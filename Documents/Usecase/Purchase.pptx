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8.xml" ContentType="application/vnd.openxmlformats-officedocument.presentationml.tags+xml"/>
  <Override PartName="/ppt/notesSlides/notesSlide5.xml" ContentType="application/vnd.openxmlformats-officedocument.presentationml.notesSlide+xml"/>
  <Override PartName="/ppt/tags/tag9.xml" ContentType="application/vnd.openxmlformats-officedocument.presentationml.tags+xml"/>
  <Override PartName="/ppt/notesSlides/notesSlide6.xml" ContentType="application/vnd.openxmlformats-officedocument.presentationml.notesSlide+xml"/>
  <Override PartName="/ppt/tags/tag10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11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330" r:id="rId3"/>
    <p:sldId id="290" r:id="rId4"/>
    <p:sldId id="258" r:id="rId5"/>
    <p:sldId id="294" r:id="rId6"/>
    <p:sldId id="2145705951" r:id="rId7"/>
    <p:sldId id="2145705925" r:id="rId8"/>
    <p:sldId id="2145705952" r:id="rId9"/>
    <p:sldId id="2145705994" r:id="rId10"/>
    <p:sldId id="2145705991" r:id="rId11"/>
    <p:sldId id="2145705995" r:id="rId12"/>
    <p:sldId id="2145705992" r:id="rId13"/>
    <p:sldId id="2145705996" r:id="rId14"/>
    <p:sldId id="2145705997" r:id="rId15"/>
    <p:sldId id="2145705998" r:id="rId16"/>
    <p:sldId id="2145705999" r:id="rId17"/>
    <p:sldId id="2145706000" r:id="rId18"/>
    <p:sldId id="2145706001" r:id="rId19"/>
    <p:sldId id="2145706002" r:id="rId20"/>
    <p:sldId id="2145706003" r:id="rId21"/>
    <p:sldId id="2145706004" r:id="rId22"/>
    <p:sldId id="2145706005" r:id="rId23"/>
    <p:sldId id="2145706006" r:id="rId24"/>
    <p:sldId id="2145706007" r:id="rId25"/>
    <p:sldId id="2145705957" r:id="rId26"/>
    <p:sldId id="2145705953" r:id="rId27"/>
    <p:sldId id="2145705958" r:id="rId28"/>
    <p:sldId id="309" r:id="rId29"/>
    <p:sldId id="310" r:id="rId30"/>
    <p:sldId id="311" r:id="rId31"/>
    <p:sldId id="312" r:id="rId32"/>
    <p:sldId id="313" r:id="rId33"/>
    <p:sldId id="314" r:id="rId34"/>
    <p:sldId id="315" r:id="rId35"/>
    <p:sldId id="316" r:id="rId36"/>
    <p:sldId id="317" r:id="rId37"/>
    <p:sldId id="318" r:id="rId38"/>
    <p:sldId id="319" r:id="rId3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9" roundtripDataSignature="AMtx7mikRkjFzxOwHA8WAHOV29/jFXnz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B000"/>
    <a:srgbClr val="FFECAF"/>
    <a:srgbClr val="FFE181"/>
    <a:srgbClr val="FFEFBD"/>
    <a:srgbClr val="00DE6F"/>
    <a:srgbClr val="B5F5CC"/>
    <a:srgbClr val="388C54"/>
    <a:srgbClr val="00F67B"/>
    <a:srgbClr val="00D269"/>
    <a:srgbClr val="00F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354" autoAdjust="0"/>
    <p:restoredTop sz="95373" autoAdjust="0"/>
  </p:normalViewPr>
  <p:slideViewPr>
    <p:cSldViewPr snapToGrid="0">
      <p:cViewPr varScale="1">
        <p:scale>
          <a:sx n="87" d="100"/>
          <a:sy n="87" d="100"/>
        </p:scale>
        <p:origin x="195" y="50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71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69" Type="http://customschemas.google.com/relationships/presentationmetadata" Target="metadata"/><Relationship Id="rId8" Type="http://schemas.openxmlformats.org/officeDocument/2006/relationships/slide" Target="slides/slide7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7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B8A12-9ED7-8883-E884-F9A40E1B1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E10717-926E-BD7D-2341-A400606FBD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22FA6E-008B-42E7-F3E1-FF97E4D8C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8BFA15-BD53-1CC8-881A-15977C36FD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9423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19451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2B5F1-FA53-9FF2-40E0-F07D956D9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5A3851-8955-A00F-BE29-9FBF7F6F7C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FBEA8-DBA0-8022-F1FD-27A36BFB24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2A2AEF-14A3-84B3-F1E4-B48A1DB18F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337816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E9125-65E9-8ACD-15D9-1D737C1EF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D35D25-6F4D-5AC5-6B1A-1E2E8932F5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9B999F-A411-3E50-AC57-D85CEBA057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9D2C9-5194-716A-1B8D-1817C3DC0D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82921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1DBC2-38D6-3309-397D-5CD427CD0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29181C-9A48-E546-73A8-7E1BDC2C13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55D0C-7EB1-055F-FECA-DC71E4801C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1AE42A-1086-46E6-DD54-5F8A6FEE20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063107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627FD-0C14-3A46-82B9-BB3F2398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098489-18BA-013A-7DAB-02B699C43A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D00C3-F231-FDE3-DF50-6EAAB71FB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94205-DEED-42FA-CE5F-56B7A1608B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24464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D7965-2569-576B-23B3-EC55FA7E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34E7AF-48CA-3FFE-630B-8E5827F10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ECF5B-D42C-D7C7-FB4E-4BDF2F103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34E76-A96C-7D65-B4CC-312A8C5963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085395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4D4F7-C506-28C5-B33D-6AFEF5EB7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23F0BF-FA19-38D6-D6BC-49C34A850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A8EC37-079D-25A7-DD9F-F43D3C342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03DBB7-E3BF-6BDF-4B0B-EE2EE9FB1C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56936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AA73-DE87-97FB-E94D-E872BF3EF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46DFFE-A1AC-3410-16A2-BE25B1BA57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20DF6E-BB33-CBFE-3E5E-2709D6D61E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5BF6F-0739-C576-E424-F70BECBD0A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645641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3A3B6-03CC-4EAF-710E-6749CA1B1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FDD56-F3DD-46EE-B5D2-D970E02F9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E2197E-A97F-8E5B-6F46-B37A3CCBF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518F2-CA4D-A93C-39E5-93A3B8861A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921118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72094-DAA5-847A-1ACA-0D6F0728F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6660CA-75C2-D929-8964-96FF32EA1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B9FB6-DFB6-EA8F-840F-C5407B6CB7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2B90D-984A-3DDB-F2A2-5515B72DB3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526368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C57D-B09E-FCB6-77F9-F61ED9308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61BDF0-95C2-C274-F788-66BB33D4E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AC8F6A-0E42-07D4-5592-D17B07149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E84B15-CBDD-37E1-6EA5-3078B5474F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03533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679F-BEEB-7AC7-6166-933F6D00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770D1-29C9-9553-CBA6-9F5403F9DF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7122DB-FF14-AE99-8509-B97DEE729E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17B58-88BF-75EE-D6E9-8BD6C79F01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048594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94FE4-AD9D-0FE5-F40E-E2F7FF962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0141AC-51A7-F8B6-4A30-2AE9060C7E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A8A70E-2256-4638-3B16-13C00D3BD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0339B-1ECF-5E61-9727-ADD30697D7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622920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68928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160334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16897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672391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794164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6" name="Google Shape;89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6" name="Google Shape;9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7" name="Google Shape;90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1" name="Google Shape;91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9" name="Google Shape;91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0" name="Google Shape;920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0" name="Google Shape;95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1" name="Google Shape;98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5" name="Google Shape;100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Google Shape;1006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1" name="Google Shape;107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2" name="Google Shape;1072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3" name="Google Shape;111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1" name="Google Shape;1121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5" name="Google Shape;1155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7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4" Type="http://schemas.openxmlformats.org/officeDocument/2006/relationships/image" Target="../media/image7.emf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7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7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7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7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4582512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431198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9407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90597086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91052809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orient="horz" pos="1359">
          <p15:clr>
            <a:srgbClr val="FBAE40"/>
          </p15:clr>
        </p15:guide>
        <p15:guide id="22" pos="3568">
          <p15:clr>
            <a:srgbClr val="FBAE40"/>
          </p15:clr>
        </p15:guide>
        <p15:guide id="23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507" indent="-625507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507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30011412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>
          <p15:clr>
            <a:srgbClr val="FBAE40"/>
          </p15:clr>
        </p15:guide>
        <p15:guide id="9" pos="270">
          <p15:clr>
            <a:srgbClr val="FBAE40"/>
          </p15:clr>
        </p15:guide>
        <p15:guide id="10" pos="3839">
          <p15:clr>
            <a:srgbClr val="FBAE40"/>
          </p15:clr>
        </p15:guide>
        <p15:guide id="11" orient="horz" pos="4047">
          <p15:clr>
            <a:srgbClr val="FBAE40"/>
          </p15:clr>
        </p15:guide>
        <p15:guide id="12" orient="horz" pos="963">
          <p15:clr>
            <a:srgbClr val="FBAE40"/>
          </p15:clr>
        </p15:guide>
        <p15:guide id="13" pos="3567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6731834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31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6" r:id="rId23"/>
    <p:sldLayoutId id="2147483677" r:id="rId24"/>
    <p:sldLayoutId id="2147483678" r:id="rId25"/>
    <p:sldLayoutId id="2147483679" r:id="rId26"/>
    <p:sldLayoutId id="2147483680" r:id="rId27"/>
    <p:sldLayoutId id="2147483681" r:id="rId28"/>
    <p:sldLayoutId id="2147483682" r:id="rId2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slideLayout" Target="../slideLayouts/slideLayout24.xml"/><Relationship Id="rId1" Type="http://schemas.openxmlformats.org/officeDocument/2006/relationships/tags" Target="../tags/tag7.xml"/><Relationship Id="rId6" Type="http://schemas.openxmlformats.org/officeDocument/2006/relationships/image" Target="../media/image9.jpg"/><Relationship Id="rId11" Type="http://schemas.openxmlformats.org/officeDocument/2006/relationships/image" Target="../media/image14.png"/><Relationship Id="rId5" Type="http://schemas.openxmlformats.org/officeDocument/2006/relationships/image" Target="../media/image7.emf"/><Relationship Id="rId10" Type="http://schemas.openxmlformats.org/officeDocument/2006/relationships/image" Target="../media/image13.svg"/><Relationship Id="rId4" Type="http://schemas.openxmlformats.org/officeDocument/2006/relationships/oleObject" Target="../embeddings/oleObject7.bin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6.xml"/><Relationship Id="rId1" Type="http://schemas.openxmlformats.org/officeDocument/2006/relationships/tags" Target="../tags/tag8.xml"/><Relationship Id="rId6" Type="http://schemas.openxmlformats.org/officeDocument/2006/relationships/image" Target="../media/image17.jpg"/><Relationship Id="rId5" Type="http://schemas.openxmlformats.org/officeDocument/2006/relationships/image" Target="../media/image7.emf"/><Relationship Id="rId4" Type="http://schemas.openxmlformats.org/officeDocument/2006/relationships/oleObject" Target="../embeddings/oleObject8.bin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6.xml"/><Relationship Id="rId1" Type="http://schemas.openxmlformats.org/officeDocument/2006/relationships/tags" Target="../tags/tag9.xml"/><Relationship Id="rId6" Type="http://schemas.openxmlformats.org/officeDocument/2006/relationships/image" Target="../media/image20.jpg"/><Relationship Id="rId5" Type="http://schemas.openxmlformats.org/officeDocument/2006/relationships/image" Target="../media/image19.emf"/><Relationship Id="rId4" Type="http://schemas.openxmlformats.org/officeDocument/2006/relationships/oleObject" Target="../embeddings/oleObject9.bin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6.xml"/><Relationship Id="rId1" Type="http://schemas.openxmlformats.org/officeDocument/2006/relationships/tags" Target="../tags/tag10.xml"/><Relationship Id="rId6" Type="http://schemas.openxmlformats.org/officeDocument/2006/relationships/image" Target="../media/image20.jpg"/><Relationship Id="rId5" Type="http://schemas.openxmlformats.org/officeDocument/2006/relationships/image" Target="../media/image19.emf"/><Relationship Id="rId4" Type="http://schemas.openxmlformats.org/officeDocument/2006/relationships/oleObject" Target="../embeddings/oleObject9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2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6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6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6.xml"/><Relationship Id="rId1" Type="http://schemas.openxmlformats.org/officeDocument/2006/relationships/tags" Target="../tags/tag11.xml"/><Relationship Id="rId6" Type="http://schemas.openxmlformats.org/officeDocument/2006/relationships/image" Target="../media/image20.jpg"/><Relationship Id="rId5" Type="http://schemas.openxmlformats.org/officeDocument/2006/relationships/image" Target="../media/image19.emf"/><Relationship Id="rId4" Type="http://schemas.openxmlformats.org/officeDocument/2006/relationships/oleObject" Target="../embeddings/oleObject9.bin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9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9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45.jp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58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45.jp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solidFill>
                  <a:srgbClr val="C00000"/>
                </a:solidFill>
              </a:rPr>
              <a:t>bbv Software Services AG  |  </a:t>
            </a:r>
            <a:r>
              <a:rPr lang="en-CH" dirty="0">
                <a:solidFill>
                  <a:srgbClr val="C00000"/>
                </a:solidFill>
              </a:rPr>
              <a:t>Date</a:t>
            </a:r>
            <a:endParaRPr lang="en-GB" dirty="0">
              <a:solidFill>
                <a:srgbClr val="C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>
                <a:solidFill>
                  <a:srgbClr val="C00000"/>
                </a:solidFill>
              </a:rPr>
              <a:t>Y</a:t>
            </a:r>
            <a:r>
              <a:rPr lang="en-US" dirty="0">
                <a:solidFill>
                  <a:srgbClr val="C00000"/>
                </a:solidFill>
              </a:rPr>
              <a:t>PP</a:t>
            </a:r>
            <a:r>
              <a:rPr lang="vi-VN" dirty="0">
                <a:solidFill>
                  <a:srgbClr val="C00000"/>
                </a:solidFill>
              </a:rPr>
              <a:t> 4</a:t>
            </a:r>
            <a:r>
              <a:rPr lang="en-US" dirty="0" err="1">
                <a:solidFill>
                  <a:srgbClr val="C00000"/>
                </a:solidFill>
              </a:rPr>
              <a:t>th</a:t>
            </a:r>
            <a:endParaRPr lang="en-GB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C00000"/>
                </a:solidFill>
              </a:rPr>
              <a:t>bbv Software Services AG  |  </a:t>
            </a:r>
            <a:r>
              <a:rPr lang="en-CH" noProof="0" dirty="0">
                <a:solidFill>
                  <a:srgbClr val="C00000"/>
                </a:solidFill>
              </a:rPr>
              <a:t>Date</a:t>
            </a:r>
            <a:r>
              <a:rPr lang="en-US" noProof="0" dirty="0">
                <a:solidFill>
                  <a:srgbClr val="C00000"/>
                </a:solidFill>
              </a:rPr>
              <a:t>: 08/05/2025</a:t>
            </a:r>
            <a:endParaRPr lang="en-GB" noProof="0" dirty="0">
              <a:solidFill>
                <a:srgbClr val="C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>
                <a:solidFill>
                  <a:srgbClr val="C00000"/>
                </a:solidFill>
              </a:rPr>
              <a:t>Presentation on </a:t>
            </a:r>
            <a:r>
              <a:rPr lang="en-US" dirty="0">
                <a:solidFill>
                  <a:srgbClr val="C00000"/>
                </a:solidFill>
              </a:rPr>
              <a:t>Use Case </a:t>
            </a:r>
            <a:r>
              <a:rPr lang="en-US" dirty="0" err="1">
                <a:solidFill>
                  <a:srgbClr val="C00000"/>
                </a:solidFill>
              </a:rPr>
              <a:t>InFlow</a:t>
            </a:r>
            <a:endParaRPr lang="en-GB" noProof="0" dirty="0">
              <a:solidFill>
                <a:srgbClr val="C00000"/>
              </a:solidFill>
            </a:endParaRP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Bef>
                <a:spcPts val="0"/>
              </a:spcBef>
            </a:pPr>
            <a:r>
              <a:rPr lang="en-US" noProof="1">
                <a:latin typeface="Segoe UI Semibold" panose="020B0702040204020203" pitchFamily="34" charset="0"/>
                <a:cs typeface="Segoe UI Semibold" panose="020B0702040204020203" pitchFamily="34" charset="0"/>
              </a:rPr>
              <a:t>Introduction </a:t>
            </a:r>
          </a:p>
          <a:p>
            <a:pPr marL="342900" indent="-342900">
              <a:spcBef>
                <a:spcPts val="0"/>
              </a:spcBef>
            </a:pPr>
            <a:endParaRPr lang="en-US" noProof="1"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342900" indent="-342900">
              <a:spcBef>
                <a:spcPts val="0"/>
              </a:spcBef>
            </a:pPr>
            <a:r>
              <a:rPr lang="en-US" noProof="1">
                <a:latin typeface="Segoe UI Semibold" panose="020B0702040204020203" pitchFamily="34" charset="0"/>
                <a:cs typeface="Segoe UI Semibold" panose="020B0702040204020203" pitchFamily="34" charset="0"/>
              </a:rPr>
              <a:t>Module</a:t>
            </a:r>
          </a:p>
          <a:p>
            <a:pPr marL="342900" indent="-342900">
              <a:spcBef>
                <a:spcPts val="0"/>
              </a:spcBef>
            </a:pPr>
            <a:endParaRPr lang="en-US" noProof="1"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342900" indent="-342900">
              <a:spcBef>
                <a:spcPts val="0"/>
              </a:spcBef>
            </a:pPr>
            <a:r>
              <a:rPr lang="en-US" noProof="1">
                <a:latin typeface="Segoe UI Semibold" panose="020B0702040204020203" pitchFamily="34" charset="0"/>
                <a:cs typeface="Segoe UI Semibold" panose="020B0702040204020203" pitchFamily="34" charset="0"/>
              </a:rPr>
              <a:t>UI Screens in the Inflowinventory</a:t>
            </a:r>
          </a:p>
          <a:p>
            <a:pPr marL="342900" indent="-342900">
              <a:spcBef>
                <a:spcPts val="0"/>
              </a:spcBef>
            </a:pPr>
            <a:endParaRPr lang="en-US" noProof="1"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342900" indent="-342900">
              <a:spcBef>
                <a:spcPts val="0"/>
              </a:spcBef>
            </a:pPr>
            <a:r>
              <a:rPr lang="en-US" noProof="1">
                <a:latin typeface="Segoe UI Semibold" panose="020B0702040204020203" pitchFamily="34" charset="0"/>
                <a:cs typeface="Segoe UI Semibold" panose="020B0702040204020203" pitchFamily="34" charset="0"/>
              </a:rPr>
              <a:t>Usecase</a:t>
            </a:r>
          </a:p>
          <a:p>
            <a:pPr marL="342900" indent="-342900"/>
            <a:r>
              <a:rPr lang="en-US" noProof="1">
                <a:latin typeface="Segoe UI Semibold" panose="020B0702040204020203" pitchFamily="34" charset="0"/>
                <a:cs typeface="Segoe UI Semibold" panose="020B0702040204020203" pitchFamily="34" charset="0"/>
              </a:rPr>
              <a:t>Q&amp;A</a:t>
            </a:r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noProof="1">
                <a:latin typeface="Segoe UI Semibold" panose="020B0702040204020203" pitchFamily="34" charset="0"/>
                <a:cs typeface="Segoe UI Semibold" panose="020B0702040204020203" pitchFamily="34" charset="0"/>
              </a:rPr>
              <a:t>Agenda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B2730B-5A87-7C3E-86D6-B98C7F526860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4888D1-90FE-5A9C-16D1-E5B5E8823B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323" y="1042835"/>
            <a:ext cx="8805820" cy="58151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solidFill>
                  <a:srgbClr val="C00000"/>
                </a:solidFill>
              </a:rPr>
              <a:t>What is </a:t>
            </a:r>
            <a:r>
              <a:rPr lang="en-GB" dirty="0" err="1">
                <a:solidFill>
                  <a:srgbClr val="C00000"/>
                </a:solidFill>
              </a:rPr>
              <a:t>Inflowinventory</a:t>
            </a:r>
            <a:r>
              <a:rPr lang="en-GB" dirty="0">
                <a:solidFill>
                  <a:srgbClr val="C00000"/>
                </a:solidFill>
              </a:rPr>
              <a:t>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>
                <a:solidFill>
                  <a:srgbClr val="C00000"/>
                </a:solidFill>
              </a:rPr>
              <a:t>INTRODUCTION</a:t>
            </a:r>
            <a:endParaRPr lang="en-GB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E9E7B5-BDF1-4F3B-5DC4-0AD36B6113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669323" lvl="1" indent="-334662">
              <a:lnSpc>
                <a:spcPct val="100000"/>
              </a:lnSpc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Inflow</a:t>
            </a:r>
          </a:p>
          <a:p>
            <a:pPr marL="669323" lvl="1" indent="-334662">
              <a:lnSpc>
                <a:spcPct val="100000"/>
              </a:lnSpc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Let’s users:</a:t>
            </a:r>
          </a:p>
          <a:p>
            <a:pPr marL="1338646" lvl="2" indent="-446216">
              <a:lnSpc>
                <a:spcPct val="100000"/>
              </a:lnSpc>
              <a:buFont typeface="Arial"/>
              <a:buChar char="⚬"/>
            </a:pPr>
            <a:r>
              <a:rPr lang="en-US" dirty="0"/>
              <a:t>Create workspace boards</a:t>
            </a:r>
          </a:p>
          <a:p>
            <a:pPr marL="1338646" lvl="2" indent="-446216">
              <a:lnSpc>
                <a:spcPct val="100000"/>
              </a:lnSpc>
              <a:buFont typeface="Arial"/>
              <a:buChar char="⚬"/>
            </a:pPr>
            <a:endParaRPr lang="en-US" dirty="0"/>
          </a:p>
          <a:p>
            <a:pPr marL="1338646" lvl="2" indent="-446216">
              <a:lnSpc>
                <a:spcPct val="100000"/>
              </a:lnSpc>
              <a:buFont typeface="Arial"/>
              <a:buChar char="⚬"/>
            </a:pPr>
            <a:endParaRPr lang="en-US" dirty="0"/>
          </a:p>
          <a:p>
            <a:pPr marL="1338646" lvl="2" indent="-446216">
              <a:lnSpc>
                <a:spcPct val="100000"/>
              </a:lnSpc>
              <a:buFont typeface="Arial"/>
              <a:buChar char="⚬"/>
            </a:pPr>
            <a:endParaRPr lang="en-US" dirty="0">
              <a:solidFill>
                <a:srgbClr val="333333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1DB2E-AD64-0680-8783-D12FD58E83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What is InflowInventory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5096EED-E4A7-AF91-27B1-EB89B3B3A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AB430B1-973C-6D58-DB50-11AC680610B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AA7FACF-83F0-718D-56CE-393C18FCAB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915" r="14177" b="3101"/>
          <a:stretch>
            <a:fillRect/>
          </a:stretch>
        </p:blipFill>
        <p:spPr>
          <a:xfrm>
            <a:off x="4580898" y="1098000"/>
            <a:ext cx="7954483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16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D18B968-C584-8DAD-AD19-51B0EF3222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>
                <a:solidFill>
                  <a:srgbClr val="C00000"/>
                </a:solidFill>
              </a:rPr>
              <a:t>Key Functionalities</a:t>
            </a:r>
            <a:endParaRPr lang="en-GB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C62CE5-8D7B-3AB9-4C63-246726DC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Key Functionalities</a:t>
            </a:r>
            <a:br>
              <a:rPr lang="en-US" dirty="0"/>
            </a:br>
            <a:endParaRPr lang="en-US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3B3847-D2DC-32A6-5F97-217BB02A55AC}"/>
              </a:ext>
            </a:extLst>
          </p:cNvPr>
          <p:cNvSpPr>
            <a:spLocks noGrp="1" noChangeArrowheads="1"/>
          </p:cNvSpPr>
          <p:nvPr>
            <p:ph type="body" sz="quarter" idx="16"/>
          </p:nvPr>
        </p:nvSpPr>
        <p:spPr bwMode="auto">
          <a:xfrm>
            <a:off x="518160" y="2656545"/>
            <a:ext cx="45476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345CD5-CA78-8E5A-CC32-986BAB056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2674" y="1080167"/>
            <a:ext cx="6399326" cy="577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8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F1FFE-152A-893C-9933-2331916B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CBE0340-20C7-1584-4092-C5822FC11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D18B968-C584-8DAD-AD19-51B0EF3222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23EDA12E-05CB-8BDB-4253-6F4509380B16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E9F2193-D53C-4C05-1613-94BB06962E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>
                <a:solidFill>
                  <a:srgbClr val="C00000"/>
                </a:solidFill>
              </a:rPr>
              <a:t>Purchase module</a:t>
            </a:r>
            <a:endParaRPr lang="en-GB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5430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01D82-3A9F-D26D-CEF5-3E39F32E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15B809-A0A3-F4A4-F22A-CA9A4DA20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10443265" cy="1098000"/>
          </a:xfrm>
        </p:spPr>
        <p:txBody>
          <a:bodyPr/>
          <a:lstStyle/>
          <a:p>
            <a:r>
              <a:rPr lang="en-US" noProof="1"/>
              <a:t>PURCHASE ORDER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C9051F-C294-1AFE-34AF-EF13EB2C2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79653"/>
            <a:ext cx="12192000" cy="6096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DE87EBF-9F4F-810D-46BC-86D19C4DE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179652"/>
            <a:ext cx="12778451" cy="6131427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E367C19-F073-452B-4B9E-D653512F35C6}"/>
              </a:ext>
            </a:extLst>
          </p:cNvPr>
          <p:cNvGrpSpPr/>
          <p:nvPr/>
        </p:nvGrpSpPr>
        <p:grpSpPr>
          <a:xfrm>
            <a:off x="4608576" y="4345967"/>
            <a:ext cx="3073447" cy="2323057"/>
            <a:chOff x="3842864" y="1202196"/>
            <a:chExt cx="3073447" cy="2323057"/>
          </a:xfrm>
        </p:grpSpPr>
        <p:sp>
          <p:nvSpPr>
            <p:cNvPr id="11" name="Google Shape;229;g370fc456c4b_0_4">
              <a:extLst>
                <a:ext uri="{FF2B5EF4-FFF2-40B4-BE49-F238E27FC236}">
                  <a16:creationId xmlns:a16="http://schemas.microsoft.com/office/drawing/2014/main" id="{66CBA8F2-CD8C-FBFE-6EB0-4106190E6A6D}"/>
                </a:ext>
              </a:extLst>
            </p:cNvPr>
            <p:cNvSpPr/>
            <p:nvPr/>
          </p:nvSpPr>
          <p:spPr>
            <a:xfrm>
              <a:off x="3842864" y="1737725"/>
              <a:ext cx="2121408" cy="1787528"/>
            </a:xfrm>
            <a:prstGeom prst="rect">
              <a:avLst/>
            </a:prstGeom>
            <a:noFill/>
            <a:ln w="28575" cap="flat" cmpd="sng">
              <a:solidFill>
                <a:srgbClr val="579D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1">
                <a:solidFill>
                  <a:schemeClr val="lt1"/>
                </a:solidFill>
              </a:endParaRPr>
            </a:p>
          </p:txBody>
        </p:sp>
        <p:cxnSp>
          <p:nvCxnSpPr>
            <p:cNvPr id="12" name="Google Shape;230;g370fc456c4b_0_4">
              <a:extLst>
                <a:ext uri="{FF2B5EF4-FFF2-40B4-BE49-F238E27FC236}">
                  <a16:creationId xmlns:a16="http://schemas.microsoft.com/office/drawing/2014/main" id="{8A4FE6DD-7DF9-7A72-7DAA-1489830442FC}"/>
                </a:ext>
              </a:extLst>
            </p:cNvPr>
            <p:cNvCxnSpPr>
              <a:cxnSpLocks/>
              <a:endCxn id="11" idx="0"/>
            </p:cNvCxnSpPr>
            <p:nvPr/>
          </p:nvCxnSpPr>
          <p:spPr>
            <a:xfrm flipH="1">
              <a:off x="4903568" y="1345933"/>
              <a:ext cx="1060704" cy="391792"/>
            </a:xfrm>
            <a:prstGeom prst="straightConnector1">
              <a:avLst/>
            </a:prstGeom>
            <a:noFill/>
            <a:ln w="25400" cap="flat" cmpd="sng">
              <a:solidFill>
                <a:srgbClr val="579DFF"/>
              </a:solidFill>
              <a:prstDash val="solid"/>
              <a:round/>
              <a:headEnd type="arrow" w="med" len="sm"/>
              <a:tailEnd type="none" w="med" len="med"/>
            </a:ln>
          </p:spPr>
        </p:cxn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B6D89ADA-CE12-A607-33AE-B2924E107346}"/>
                </a:ext>
              </a:extLst>
            </p:cNvPr>
            <p:cNvSpPr/>
            <p:nvPr/>
          </p:nvSpPr>
          <p:spPr>
            <a:xfrm>
              <a:off x="5964272" y="1202196"/>
              <a:ext cx="952039" cy="287472"/>
            </a:xfrm>
            <a:prstGeom prst="roundRect">
              <a:avLst/>
            </a:prstGeom>
            <a:solidFill>
              <a:srgbClr val="1C2B41"/>
            </a:solidFill>
            <a:ln w="22225">
              <a:solidFill>
                <a:srgbClr val="1C2B4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rgbClr val="579DFF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Purchase</a:t>
              </a:r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DB43E6-3152-40DF-A722-9A0CE85720ED}"/>
              </a:ext>
            </a:extLst>
          </p:cNvPr>
          <p:cNvGrpSpPr/>
          <p:nvPr/>
        </p:nvGrpSpPr>
        <p:grpSpPr>
          <a:xfrm>
            <a:off x="5549912" y="5000008"/>
            <a:ext cx="1741434" cy="803706"/>
            <a:chOff x="1322566" y="3637497"/>
            <a:chExt cx="1741434" cy="80370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60E3822-EFDF-2F84-467F-E0210543E915}"/>
                </a:ext>
              </a:extLst>
            </p:cNvPr>
            <p:cNvGrpSpPr/>
            <p:nvPr/>
          </p:nvGrpSpPr>
          <p:grpSpPr>
            <a:xfrm>
              <a:off x="1958768" y="3637497"/>
              <a:ext cx="1105232" cy="287471"/>
              <a:chOff x="6568435" y="3966362"/>
              <a:chExt cx="1105232" cy="287471"/>
            </a:xfrm>
          </p:grpSpPr>
          <p:sp>
            <p:nvSpPr>
              <p:cNvPr id="22" name="Google Shape;229;g370fc456c4b_0_4">
                <a:extLst>
                  <a:ext uri="{FF2B5EF4-FFF2-40B4-BE49-F238E27FC236}">
                    <a16:creationId xmlns:a16="http://schemas.microsoft.com/office/drawing/2014/main" id="{D19391A2-1E57-327C-EB9A-0132DCD40D99}"/>
                  </a:ext>
                </a:extLst>
              </p:cNvPr>
              <p:cNvSpPr/>
              <p:nvPr/>
            </p:nvSpPr>
            <p:spPr>
              <a:xfrm>
                <a:off x="6568435" y="3966362"/>
                <a:ext cx="326003" cy="287471"/>
              </a:xfrm>
              <a:prstGeom prst="rect">
                <a:avLst/>
              </a:prstGeom>
              <a:noFill/>
              <a:ln w="28575" cap="flat" cmpd="sng">
                <a:solidFill>
                  <a:srgbClr val="FFC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1">
                  <a:solidFill>
                    <a:schemeClr val="lt1"/>
                  </a:solidFill>
                </a:endParaRPr>
              </a:p>
            </p:txBody>
          </p:sp>
          <p:cxnSp>
            <p:nvCxnSpPr>
              <p:cNvPr id="23" name="Google Shape;230;g370fc456c4b_0_4">
                <a:extLst>
                  <a:ext uri="{FF2B5EF4-FFF2-40B4-BE49-F238E27FC236}">
                    <a16:creationId xmlns:a16="http://schemas.microsoft.com/office/drawing/2014/main" id="{906D4FFD-4123-1CB8-0AFF-DCE01D537062}"/>
                  </a:ext>
                </a:extLst>
              </p:cNvPr>
              <p:cNvCxnSpPr>
                <a:cxnSpLocks/>
                <a:endCxn id="22" idx="3"/>
              </p:cNvCxnSpPr>
              <p:nvPr/>
            </p:nvCxnSpPr>
            <p:spPr>
              <a:xfrm flipH="1">
                <a:off x="6894438" y="4095907"/>
                <a:ext cx="779229" cy="14191"/>
              </a:xfrm>
              <a:prstGeom prst="straightConnector1">
                <a:avLst/>
              </a:prstGeom>
              <a:noFill/>
              <a:ln w="25400" cap="flat" cmpd="sng">
                <a:solidFill>
                  <a:srgbClr val="FFC000"/>
                </a:solidFill>
                <a:prstDash val="solid"/>
                <a:round/>
                <a:headEnd type="arrow" w="med" len="sm"/>
                <a:tailEnd type="none" w="med" len="med"/>
              </a:ln>
            </p:spPr>
          </p:cxnSp>
        </p:grp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7F42743-E51D-9EDF-A423-511B5462A349}"/>
                </a:ext>
              </a:extLst>
            </p:cNvPr>
            <p:cNvSpPr/>
            <p:nvPr/>
          </p:nvSpPr>
          <p:spPr>
            <a:xfrm>
              <a:off x="1322566" y="4153731"/>
              <a:ext cx="982198" cy="287472"/>
            </a:xfrm>
            <a:prstGeom prst="roundRect">
              <a:avLst/>
            </a:prstGeom>
            <a:solidFill>
              <a:srgbClr val="FFECAF"/>
            </a:solidFill>
            <a:ln w="222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noProof="1">
                  <a:solidFill>
                    <a:srgbClr val="EEB000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Click here</a:t>
              </a:r>
              <a:endParaRPr lang="en-US" sz="1200" dirty="0">
                <a:solidFill>
                  <a:srgbClr val="EEB000"/>
                </a:solidFill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94FDCB53-5F1D-BB34-3604-94A2456687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1346" y="4819365"/>
            <a:ext cx="1654508" cy="1421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3519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26773-FBDF-6072-275E-44E0B5C94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C995F71-CF28-7DE5-51D3-6EFB867AB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10443265" cy="1098000"/>
          </a:xfrm>
        </p:spPr>
        <p:txBody>
          <a:bodyPr/>
          <a:lstStyle/>
          <a:p>
            <a:r>
              <a:rPr lang="en-US" noProof="1"/>
              <a:t>MANAGE PURCHASE ORDER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CC3179-DE23-3FC9-A30F-CF4F5E7B6E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79653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0339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37D73-CA00-D753-EA99-C55200B1F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792112-7BEC-2830-61FC-78F732748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10443265" cy="1098000"/>
          </a:xfrm>
        </p:spPr>
        <p:txBody>
          <a:bodyPr/>
          <a:lstStyle/>
          <a:p>
            <a:r>
              <a:rPr lang="en-US" noProof="1"/>
              <a:t>PURCHASE ORDER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F48814-DA2B-24DE-67BC-E00BA4BDB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79653"/>
            <a:ext cx="12192000" cy="6096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CE3CFB-01D3-B37D-A0C3-841F7CA8B9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7222" y="1179653"/>
            <a:ext cx="12639222" cy="6096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558F4CE-16B9-1142-6A42-D6CFAEA69B2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0092" b="18562"/>
          <a:stretch>
            <a:fillRect/>
          </a:stretch>
        </p:blipFill>
        <p:spPr>
          <a:xfrm>
            <a:off x="2376304" y="5592725"/>
            <a:ext cx="9815696" cy="126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628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35587-29F5-6866-4F5D-13D0FFB61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6F495E-F478-D0B8-07E3-2B3D78281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10443265" cy="1098000"/>
          </a:xfrm>
        </p:spPr>
        <p:txBody>
          <a:bodyPr/>
          <a:lstStyle/>
          <a:p>
            <a:r>
              <a:rPr lang="en-US" noProof="1"/>
              <a:t>PURCHASE ORDER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09E284-0364-71CD-1252-94A6B5093B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79653"/>
            <a:ext cx="12192000" cy="6096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12BDEE4-CDE3-9C69-79E9-49FD71F8E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7222" y="1179653"/>
            <a:ext cx="12639222" cy="6096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8C1E8F-F30A-E716-5181-15E38398658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0092" b="18562"/>
          <a:stretch>
            <a:fillRect/>
          </a:stretch>
        </p:blipFill>
        <p:spPr>
          <a:xfrm>
            <a:off x="2376304" y="5592725"/>
            <a:ext cx="9815696" cy="12652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95809F8-BFCC-0A00-20AC-737B2CA288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904647"/>
            <a:ext cx="3161803" cy="26460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E29416-D7E0-E6B2-99BA-D0D353E47D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7803" y="2904647"/>
            <a:ext cx="3027439" cy="277430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6EAFA60-B244-D631-16A9-A8C924B6B2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5978" y="2737449"/>
            <a:ext cx="3416437" cy="2646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721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B892-CA80-B97B-38F5-A900A5FDC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6D4B919-6913-E736-2425-CD219CBC7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10443265" cy="1098000"/>
          </a:xfrm>
        </p:spPr>
        <p:txBody>
          <a:bodyPr/>
          <a:lstStyle/>
          <a:p>
            <a:r>
              <a:rPr lang="en-US" noProof="1"/>
              <a:t>PURCHASE QUOTE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5450FA-A1FD-6B9A-75C6-742E944558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92" b="18562"/>
          <a:stretch>
            <a:fillRect/>
          </a:stretch>
        </p:blipFill>
        <p:spPr>
          <a:xfrm>
            <a:off x="2376304" y="5592725"/>
            <a:ext cx="9815696" cy="12652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9CDA786-A959-A269-2A23-D66680C58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79653"/>
            <a:ext cx="12192000" cy="5769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6982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79B4D-295A-F6C9-8E24-FFA34CF9C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2EE2E8-5666-DA42-DFAE-44092EB0A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10443265" cy="1098000"/>
          </a:xfrm>
        </p:spPr>
        <p:txBody>
          <a:bodyPr/>
          <a:lstStyle/>
          <a:p>
            <a:r>
              <a:rPr lang="en-US" noProof="1"/>
              <a:t>MANAGE VENDOR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FB34E3B-6B1A-1F72-2EE0-0A061E0466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92" b="18562"/>
          <a:stretch>
            <a:fillRect/>
          </a:stretch>
        </p:blipFill>
        <p:spPr>
          <a:xfrm>
            <a:off x="2376304" y="5592725"/>
            <a:ext cx="9815696" cy="12652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E25CFE2-7473-A9E5-155F-730FD8E03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79653"/>
            <a:ext cx="12192000" cy="57699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FEFF77-DF28-E156-27EE-19877380E1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79653"/>
            <a:ext cx="12192000" cy="5783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2518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B5833-3A32-616E-0D83-4DC6D5B18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51E47E5-504A-00A9-693F-A1704DB6F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10443265" cy="1098000"/>
          </a:xfrm>
        </p:spPr>
        <p:txBody>
          <a:bodyPr/>
          <a:lstStyle/>
          <a:p>
            <a:r>
              <a:rPr lang="en-US" noProof="1"/>
              <a:t>MANAGE VENDOR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A147CE-1307-E65C-0EAB-4FF60FACBC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92" b="18562"/>
          <a:stretch>
            <a:fillRect/>
          </a:stretch>
        </p:blipFill>
        <p:spPr>
          <a:xfrm>
            <a:off x="2376304" y="5592725"/>
            <a:ext cx="9815696" cy="12652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FFC62AD-CE4E-8B41-5CF7-CF1E44BB00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79653"/>
            <a:ext cx="12192000" cy="57699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A75B6D-C34F-10D3-1B74-7C6468C3B5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79653"/>
            <a:ext cx="12192000" cy="5783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223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9122-1B4F-94C9-8DE9-415430826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8A9D6B-329B-86DA-1600-47D2EE35C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10443265" cy="1098000"/>
          </a:xfrm>
        </p:spPr>
        <p:txBody>
          <a:bodyPr/>
          <a:lstStyle/>
          <a:p>
            <a:r>
              <a:rPr lang="en-US" noProof="1"/>
              <a:t>MANAGE VENDOR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B30EA9-1B66-5699-08D0-B3CAEFCC2B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92" b="18562"/>
          <a:stretch>
            <a:fillRect/>
          </a:stretch>
        </p:blipFill>
        <p:spPr>
          <a:xfrm>
            <a:off x="2376304" y="5592725"/>
            <a:ext cx="9815696" cy="12652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4856391-229D-5CEC-55F5-08D79554BA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79653"/>
            <a:ext cx="12192000" cy="57699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578A342-AE3B-586A-FADF-7C738510F3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79653"/>
            <a:ext cx="12192000" cy="57831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849E0E-4BBE-77A8-3DB9-D2ABF369A3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179653"/>
            <a:ext cx="12192000" cy="5875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301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F135F-CD11-CBC8-54D5-A189047C1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A5D1C2A-45F6-D102-43A8-1A14A58C7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10443265" cy="1098000"/>
          </a:xfrm>
        </p:spPr>
        <p:txBody>
          <a:bodyPr/>
          <a:lstStyle/>
          <a:p>
            <a:r>
              <a:rPr lang="en-US" noProof="1"/>
              <a:t>INFOR VENDOR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2982F32-C0F8-03C1-216B-0798DA6264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92" b="18562"/>
          <a:stretch>
            <a:fillRect/>
          </a:stretch>
        </p:blipFill>
        <p:spPr>
          <a:xfrm>
            <a:off x="2376304" y="5592725"/>
            <a:ext cx="9815696" cy="12652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49EC011-106A-E818-DF37-6202B889DC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79653"/>
            <a:ext cx="12192000" cy="57699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8FD135-8998-27EF-104C-5D2841B72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79653"/>
            <a:ext cx="12192000" cy="57831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0EE474D-7D06-ADB5-F479-54D73FCDD9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179653"/>
            <a:ext cx="12192000" cy="5875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301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BFB6A-304B-DE24-6ED7-94A12DA08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4A2BC7-FF5D-C9BC-8B43-5EED5859B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10443265" cy="1098000"/>
          </a:xfrm>
        </p:spPr>
        <p:txBody>
          <a:bodyPr/>
          <a:lstStyle/>
          <a:p>
            <a:r>
              <a:rPr lang="en-US" noProof="1"/>
              <a:t>INFOR VENDOR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D2259BE-0781-1EBB-669C-5F85399C24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92" b="18562"/>
          <a:stretch>
            <a:fillRect/>
          </a:stretch>
        </p:blipFill>
        <p:spPr>
          <a:xfrm>
            <a:off x="2376304" y="5592725"/>
            <a:ext cx="9815696" cy="12652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F4AA41A-D65C-64F9-7E98-D4755AE878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79653"/>
            <a:ext cx="12192000" cy="57699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BA21C8-927A-68B7-0AAF-2C3C6EEBAE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79653"/>
            <a:ext cx="12192000" cy="57831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17369D-C8A0-EAA6-76C4-C825F9BBF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179653"/>
            <a:ext cx="12192000" cy="58751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197263-FA08-E79C-D45B-A553812423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1166480"/>
            <a:ext cx="12192000" cy="585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3880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8F0F7-72F4-937E-60D6-428D7C14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DDA329B-DA01-A5C2-B2D2-21A6BDD5D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10443265" cy="1098000"/>
          </a:xfrm>
        </p:spPr>
        <p:txBody>
          <a:bodyPr/>
          <a:lstStyle/>
          <a:p>
            <a:r>
              <a:rPr lang="en-US" noProof="1"/>
              <a:t>ORDER HISTORY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67FE20E-6199-B957-C9F4-52095F6F15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92" b="18562"/>
          <a:stretch>
            <a:fillRect/>
          </a:stretch>
        </p:blipFill>
        <p:spPr>
          <a:xfrm>
            <a:off x="2376304" y="5592725"/>
            <a:ext cx="9815696" cy="12652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EDEA997-03A6-CA93-8FC9-FFD7E68E4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79653"/>
            <a:ext cx="12192000" cy="57699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D98E05-FDC5-9FA2-FD6B-EF43C18869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79653"/>
            <a:ext cx="12192000" cy="57831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10FACC3-EDCD-2ECB-0326-1E3ADEABAD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179653"/>
            <a:ext cx="12192000" cy="58751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C00D37-F4F7-D8E3-BA14-0EE8E089E0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1166480"/>
            <a:ext cx="12192000" cy="58508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2EE28F-0193-CCA7-D6B8-1A9BEB30AB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1186550"/>
            <a:ext cx="12192000" cy="580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1398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901E2-5E2C-0613-DED3-B56A8CEA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7002E6-BF0F-CC69-300A-2B489B0BE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10443265" cy="1098000"/>
          </a:xfrm>
        </p:spPr>
        <p:txBody>
          <a:bodyPr/>
          <a:lstStyle/>
          <a:p>
            <a:r>
              <a:rPr lang="en-US" noProof="1"/>
              <a:t>PAYMENT HISTORY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95E81DE-0095-DE2A-B7C9-1310910EF5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92" b="18562"/>
          <a:stretch>
            <a:fillRect/>
          </a:stretch>
        </p:blipFill>
        <p:spPr>
          <a:xfrm>
            <a:off x="2376304" y="5592725"/>
            <a:ext cx="9815696" cy="12652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92E25DF-6D64-3E61-FAA0-508DBA4D9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79653"/>
            <a:ext cx="12192000" cy="57699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FD4337-AF7B-CBEB-02E5-9ED53723E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79653"/>
            <a:ext cx="12192000" cy="57831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8DC6BE-5963-D452-C5D6-62E6397425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179653"/>
            <a:ext cx="12192000" cy="58751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8F281C-A1CE-E950-47A3-5ED143955A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1166480"/>
            <a:ext cx="12192000" cy="58508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CFBD89-D82F-E498-8491-8605DD21D67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1186550"/>
            <a:ext cx="12192000" cy="58034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0B434D-09CE-CE07-D03F-5459F62C61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1186550"/>
            <a:ext cx="12192000" cy="592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5244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A532-47A1-8B92-825E-C82A03B36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B0BEB35-C092-344A-3E62-686C08ED225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CBE0340-20C7-1584-4092-C5822FC11C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050F2B8-F68A-EBBD-C848-992C07027DC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6BA2504-2EE2-8174-9BA9-1776FB9BD9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 err="1">
                <a:solidFill>
                  <a:srgbClr val="C00000"/>
                </a:solidFill>
              </a:rPr>
              <a:t>Manufactoring</a:t>
            </a:r>
            <a:r>
              <a:rPr lang="en-US" dirty="0">
                <a:solidFill>
                  <a:srgbClr val="C00000"/>
                </a:solidFill>
              </a:rPr>
              <a:t> module</a:t>
            </a:r>
            <a:endParaRPr lang="en-GB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928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F557EA-0E2C-7033-C153-F576BD218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Manufacturing Order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41CC6E-9F46-7C35-FC04-A7D8CF0D15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r="32130"/>
          <a:stretch/>
        </p:blipFill>
        <p:spPr>
          <a:xfrm>
            <a:off x="431998" y="1098000"/>
            <a:ext cx="4343201" cy="5777833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837CD665-8531-0014-399D-E4C7F2C09FB7}"/>
              </a:ext>
            </a:extLst>
          </p:cNvPr>
          <p:cNvSpPr/>
          <p:nvPr/>
        </p:nvSpPr>
        <p:spPr>
          <a:xfrm>
            <a:off x="1713548" y="1193483"/>
            <a:ext cx="302641" cy="281940"/>
          </a:xfrm>
          <a:prstGeom prst="ellipse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E6F6DA-10F3-EE02-EF19-25580EB5D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8573" y="1098000"/>
            <a:ext cx="5191429" cy="572417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3C0A6A-FB02-0CF5-57E5-3733B5A32700}"/>
              </a:ext>
            </a:extLst>
          </p:cNvPr>
          <p:cNvCxnSpPr>
            <a:stCxn id="2" idx="6"/>
          </p:cNvCxnSpPr>
          <p:nvPr/>
        </p:nvCxnSpPr>
        <p:spPr>
          <a:xfrm>
            <a:off x="2016189" y="1334453"/>
            <a:ext cx="4552384" cy="140970"/>
          </a:xfrm>
          <a:prstGeom prst="straightConnector1">
            <a:avLst/>
          </a:prstGeom>
          <a:ln w="12700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27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4F8C5FA-7D8D-3741-AEF4-CB2A5426C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7998"/>
            <a:ext cx="5200777" cy="576000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7F557EA-0E2C-7033-C153-F576BD218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Manufacturing Order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3C0A6A-FB02-0CF5-57E5-3733B5A32700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2972707" y="5699760"/>
            <a:ext cx="1751692" cy="685079"/>
          </a:xfrm>
          <a:prstGeom prst="straightConnector1">
            <a:avLst/>
          </a:prstGeom>
          <a:ln w="12700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E74BA8DD-C846-EF3A-878D-FA7131A244A7}"/>
              </a:ext>
            </a:extLst>
          </p:cNvPr>
          <p:cNvSpPr/>
          <p:nvPr/>
        </p:nvSpPr>
        <p:spPr>
          <a:xfrm>
            <a:off x="725714" y="5135887"/>
            <a:ext cx="4493986" cy="563873"/>
          </a:xfrm>
          <a:prstGeom prst="rect">
            <a:avLst/>
          </a:prstGeom>
          <a:noFill/>
          <a:ln w="1270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EE60DF-028A-6FE1-BE5B-F6640CFF31D6}"/>
              </a:ext>
            </a:extLst>
          </p:cNvPr>
          <p:cNvSpPr/>
          <p:nvPr/>
        </p:nvSpPr>
        <p:spPr>
          <a:xfrm>
            <a:off x="4724399" y="6170757"/>
            <a:ext cx="647701" cy="428164"/>
          </a:xfrm>
          <a:prstGeom prst="rect">
            <a:avLst/>
          </a:prstGeom>
          <a:noFill/>
          <a:ln w="1270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6369BD-288E-1941-C071-41ACD4F72618}"/>
              </a:ext>
            </a:extLst>
          </p:cNvPr>
          <p:cNvCxnSpPr>
            <a:cxnSpLocks/>
            <a:stCxn id="14" idx="3"/>
            <a:endCxn id="30" idx="1"/>
          </p:cNvCxnSpPr>
          <p:nvPr/>
        </p:nvCxnSpPr>
        <p:spPr>
          <a:xfrm flipV="1">
            <a:off x="5372100" y="2513519"/>
            <a:ext cx="1348014" cy="3871320"/>
          </a:xfrm>
          <a:prstGeom prst="straightConnector1">
            <a:avLst/>
          </a:prstGeom>
          <a:ln w="12700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5BBEDD8A-1EC5-4DF4-9B8D-7CAB13F4B8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114" y="1098551"/>
            <a:ext cx="5039887" cy="282993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25B63A9-77E3-CBE3-51D4-4C48078D31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114" y="4019397"/>
            <a:ext cx="5039887" cy="2855215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A0B0B89-8E4C-00A4-BF61-75994BB0C7A7}"/>
              </a:ext>
            </a:extLst>
          </p:cNvPr>
          <p:cNvCxnSpPr>
            <a:cxnSpLocks/>
          </p:cNvCxnSpPr>
          <p:nvPr/>
        </p:nvCxnSpPr>
        <p:spPr>
          <a:xfrm>
            <a:off x="9332686" y="3715657"/>
            <a:ext cx="1494971" cy="2455100"/>
          </a:xfrm>
          <a:prstGeom prst="straightConnector1">
            <a:avLst/>
          </a:prstGeom>
          <a:ln w="12700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5FCCEC7F-926C-CFCE-6E7A-46668C5CC3F8}"/>
              </a:ext>
            </a:extLst>
          </p:cNvPr>
          <p:cNvSpPr/>
          <p:nvPr/>
        </p:nvSpPr>
        <p:spPr>
          <a:xfrm>
            <a:off x="10765631" y="6226969"/>
            <a:ext cx="731044" cy="371952"/>
          </a:xfrm>
          <a:prstGeom prst="rect">
            <a:avLst/>
          </a:prstGeom>
          <a:noFill/>
          <a:ln w="1270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4938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F557EA-0E2C-7033-C153-F576BD218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 Manufacturing Operations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1CD30F-EC5D-1963-FBD6-C1FA77494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4899" y="1098550"/>
            <a:ext cx="5675103" cy="57723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D3F6BA-4F3F-F153-D511-C88AEE44FC9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32130"/>
          <a:stretch/>
        </p:blipFill>
        <p:spPr>
          <a:xfrm>
            <a:off x="431998" y="1098000"/>
            <a:ext cx="4343201" cy="577783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5CB6EDE-5870-847B-5645-F0A15C4AD3DB}"/>
              </a:ext>
            </a:extLst>
          </p:cNvPr>
          <p:cNvSpPr/>
          <p:nvPr/>
        </p:nvSpPr>
        <p:spPr>
          <a:xfrm>
            <a:off x="823912" y="1894840"/>
            <a:ext cx="523875" cy="182880"/>
          </a:xfrm>
          <a:prstGeom prst="rect">
            <a:avLst/>
          </a:prstGeom>
          <a:noFill/>
          <a:ln w="1270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72FDC60-D233-4606-8A30-E7177FCED1A1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1347787" y="1986280"/>
            <a:ext cx="4737112" cy="1998430"/>
          </a:xfrm>
          <a:prstGeom prst="straightConnector1">
            <a:avLst/>
          </a:prstGeom>
          <a:ln w="12700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7472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F557EA-0E2C-7033-C153-F576BD218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 Manufacturing Order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977F20B-6A09-3256-ABE8-5AD7EF3444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50"/>
          <a:stretch/>
        </p:blipFill>
        <p:spPr>
          <a:xfrm>
            <a:off x="428625" y="1156970"/>
            <a:ext cx="11458575" cy="4462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468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F557EA-0E2C-7033-C153-F576BD218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 Manufacturing Operations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1F78C8-B651-AE2F-3701-46596DAD1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1098551"/>
            <a:ext cx="3675701" cy="36004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2B8E24-F83A-EA0E-9AA7-CF2C78B5F1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4326" y="1098550"/>
            <a:ext cx="3975100" cy="514424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B36DE1-5BF0-F92A-3642-E1F00274B8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9426" y="1149414"/>
            <a:ext cx="3683948" cy="453131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0B242B6-3E19-3567-E2CD-23A56AB41913}"/>
              </a:ext>
            </a:extLst>
          </p:cNvPr>
          <p:cNvSpPr/>
          <p:nvPr/>
        </p:nvSpPr>
        <p:spPr>
          <a:xfrm>
            <a:off x="561974" y="3232192"/>
            <a:ext cx="3336926" cy="406358"/>
          </a:xfrm>
          <a:prstGeom prst="rect">
            <a:avLst/>
          </a:prstGeom>
          <a:noFill/>
          <a:ln w="1270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E085F4C-D640-C29C-3C14-2E6FC6E52998}"/>
              </a:ext>
            </a:extLst>
          </p:cNvPr>
          <p:cNvCxnSpPr>
            <a:cxnSpLocks/>
          </p:cNvCxnSpPr>
          <p:nvPr/>
        </p:nvCxnSpPr>
        <p:spPr>
          <a:xfrm>
            <a:off x="3898900" y="3429000"/>
            <a:ext cx="205426" cy="933450"/>
          </a:xfrm>
          <a:prstGeom prst="straightConnector1">
            <a:avLst/>
          </a:prstGeom>
          <a:ln w="12700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C9047CB-422F-AFA0-49EE-280450D5ACC1}"/>
              </a:ext>
            </a:extLst>
          </p:cNvPr>
          <p:cNvSpPr/>
          <p:nvPr/>
        </p:nvSpPr>
        <p:spPr>
          <a:xfrm>
            <a:off x="7029450" y="4191000"/>
            <a:ext cx="747203" cy="390525"/>
          </a:xfrm>
          <a:prstGeom prst="rect">
            <a:avLst/>
          </a:prstGeom>
          <a:noFill/>
          <a:ln w="1270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DF62AB3-FD93-1210-0A1A-0B080CBFC118}"/>
              </a:ext>
            </a:extLst>
          </p:cNvPr>
          <p:cNvCxnSpPr>
            <a:cxnSpLocks/>
          </p:cNvCxnSpPr>
          <p:nvPr/>
        </p:nvCxnSpPr>
        <p:spPr>
          <a:xfrm flipV="1">
            <a:off x="7776653" y="3971925"/>
            <a:ext cx="1748347" cy="390525"/>
          </a:xfrm>
          <a:prstGeom prst="straightConnector1">
            <a:avLst/>
          </a:prstGeom>
          <a:ln w="12700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6672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 noProof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noProof="1"/>
              <a:t>Intern | Trello Team</a:t>
            </a:r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 lang="en-US" noProof="1"/>
          </a:p>
        </p:txBody>
      </p:sp>
      <p:sp>
        <p:nvSpPr>
          <p:cNvPr id="901" name="Google Shape;901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noProof="1"/>
              <a:t>Q&amp;A</a:t>
            </a:r>
          </a:p>
        </p:txBody>
      </p:sp>
      <p:pic>
        <p:nvPicPr>
          <p:cNvPr id="902" name="Google Shape;902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03" name="Google Shape;903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4400" noProof="1">
                <a:solidFill>
                  <a:schemeClr val="dk2"/>
                </a:solidFill>
              </a:rPr>
              <a:t>Thank you</a:t>
            </a:r>
            <a:endParaRPr lang="en-US" noProof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lang="en-US" sz="4400" noProof="1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 noProof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noProof="1"/>
              <a:t>bbv template EN</a:t>
            </a:r>
          </a:p>
        </p:txBody>
      </p:sp>
      <p:sp>
        <p:nvSpPr>
          <p:cNvPr id="916" name="Google Shape;916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US" sz="48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 lang="en-US" noProof="1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2" name="Google Shape;922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23" name="Google Shape;923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lang="en-US" sz="1867" b="0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800" b="0" i="0" u="none" strike="noStrike" cap="none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25" name="Google Shape;925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26" name="Google Shape;926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noProof="1"/>
              <a:t>bbv Master layouts &amp; slide library</a:t>
            </a:r>
          </a:p>
        </p:txBody>
      </p:sp>
      <p:sp>
        <p:nvSpPr>
          <p:cNvPr id="927" name="Google Shape;927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US" sz="2100" b="1" i="0" u="none" strike="noStrike" cap="none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 lang="en-US" noProof="1"/>
          </a:p>
        </p:txBody>
      </p:sp>
      <p:sp>
        <p:nvSpPr>
          <p:cNvPr id="928" name="Google Shape;928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 lang="en-US" noProof="1"/>
          </a:p>
        </p:txBody>
      </p:sp>
      <p:sp>
        <p:nvSpPr>
          <p:cNvPr id="929" name="Google Shape;929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noProof="1"/>
          </a:p>
        </p:txBody>
      </p:sp>
      <p:sp>
        <p:nvSpPr>
          <p:cNvPr id="930" name="Google Shape;930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 lang="en-US" noProof="1"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 lang="en-US" noProof="1"/>
          </a:p>
        </p:txBody>
      </p:sp>
      <p:sp>
        <p:nvSpPr>
          <p:cNvPr id="931" name="Google Shape;931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noProof="1"/>
          </a:p>
        </p:txBody>
      </p:sp>
      <p:sp>
        <p:nvSpPr>
          <p:cNvPr id="932" name="Google Shape;932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 lang="en-US" noProof="1"/>
          </a:p>
        </p:txBody>
      </p:sp>
      <p:sp>
        <p:nvSpPr>
          <p:cNvPr id="933" name="Google Shape;933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</a:p>
        </p:txBody>
      </p:sp>
      <p:cxnSp>
        <p:nvCxnSpPr>
          <p:cNvPr id="934" name="Google Shape;934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35" name="Google Shape;935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36" name="Google Shape;936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37" name="Google Shape;937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lang="en-US" sz="1867" b="0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38" name="Google Shape;938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39" name="Google Shape;939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0" name="Google Shape;940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lang="en-US" sz="1800" b="0" i="0" u="none" strike="noStrike" cap="none" noProof="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1" name="Google Shape;941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US" sz="1200" b="1" i="0" u="none" strike="noStrike" cap="none" noProof="1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 lang="en-US" noProof="1"/>
              </a:p>
            </p:txBody>
          </p:sp>
        </p:grpSp>
      </p:grpSp>
      <p:grpSp>
        <p:nvGrpSpPr>
          <p:cNvPr id="942" name="Google Shape;942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43" name="Google Shape;943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lang="en-US" sz="1867" b="0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4" name="Google Shape;944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45" name="Google Shape;945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6" name="Google Shape;946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lang="en-US" sz="1800" b="0" i="0" u="none" strike="noStrike" cap="none" noProof="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7" name="Google Shape;947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US" sz="1200" b="1" i="0" u="none" strike="noStrike" cap="none" noProof="1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 lang="en-US" noProof="1"/>
              </a:p>
            </p:txBody>
          </p:sp>
        </p:grp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 lang="en-US" noProof="1"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 lang="en-US" noProof="1"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 lang="en-US" noProof="1"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 lang="en-US" noProof="1"/>
          </a:p>
        </p:txBody>
      </p:sp>
      <p:sp>
        <p:nvSpPr>
          <p:cNvPr id="954" name="Google Shape;954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 lang="en-US" noProof="1"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 lang="en-US" noProof="1"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 lang="en-US" noProof="1"/>
          </a:p>
        </p:txBody>
      </p:sp>
      <p:sp>
        <p:nvSpPr>
          <p:cNvPr id="955" name="Google Shape;955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 lang="en-US" noProof="1"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 lang="en-US" noProof="1"/>
          </a:p>
        </p:txBody>
      </p:sp>
      <p:sp>
        <p:nvSpPr>
          <p:cNvPr id="956" name="Google Shape;956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 lang="en-US" noProof="1"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 lang="en-US" noProof="1"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 lang="en-US" noProof="1"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 lang="en-US" noProof="1"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 lang="en-US" noProof="1"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 lang="en-US" noProof="1"/>
          </a:p>
        </p:txBody>
      </p:sp>
      <p:sp>
        <p:nvSpPr>
          <p:cNvPr id="957" name="Google Shape;957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noProof="1"/>
              <a:t>Transfer of existing slides into the new Master</a:t>
            </a:r>
          </a:p>
        </p:txBody>
      </p:sp>
      <p:sp>
        <p:nvSpPr>
          <p:cNvPr id="958" name="Google Shape;958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noProof="1"/>
          </a:p>
        </p:txBody>
      </p:sp>
      <p:sp>
        <p:nvSpPr>
          <p:cNvPr id="959" name="Google Shape;959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noProof="1"/>
          </a:p>
        </p:txBody>
      </p:sp>
      <p:sp>
        <p:nvSpPr>
          <p:cNvPr id="960" name="Google Shape;960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lang="en-US" noProof="1"/>
          </a:p>
        </p:txBody>
      </p:sp>
      <p:sp>
        <p:nvSpPr>
          <p:cNvPr id="961" name="Google Shape;961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1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lang="en-US" noProof="1"/>
          </a:p>
        </p:txBody>
      </p:sp>
      <p:pic>
        <p:nvPicPr>
          <p:cNvPr id="962" name="Google Shape;96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63" name="Google Shape;96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64" name="Google Shape;964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65" name="Google Shape;965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66" name="Google Shape;966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67" name="Google Shape;967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 lang="en-US" noProof="1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 lang="en-US" noProof="1"/>
          </a:p>
        </p:txBody>
      </p:sp>
      <p:grpSp>
        <p:nvGrpSpPr>
          <p:cNvPr id="968" name="Google Shape;968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69" name="Google Shape;969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lang="en-US" sz="1867" b="0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0" name="Google Shape;970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1" name="Google Shape;971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lang="en-US" sz="1800" b="0" i="0" u="none" strike="noStrike" cap="none" noProof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lang="en-US" sz="1800" b="0" i="0" u="none" strike="noStrike" cap="none" noProof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3" name="Google Shape;973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74" name="Google Shape;974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lang="en-US" sz="1867" b="0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5" name="Google Shape;975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6" name="Google Shape;976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lang="en-US" sz="1800" b="0" i="0" u="none" strike="noStrike" cap="none" noProof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lang="en-US" sz="1800" b="0" i="0" u="none" strike="noStrike" cap="none" noProof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lang="en-US" sz="1800" b="0" i="0" u="none" strike="noStrike" cap="none" noProof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US" noProof="1"/>
              <a:t>Approach</a:t>
            </a:r>
          </a:p>
        </p:txBody>
      </p:sp>
      <p:sp>
        <p:nvSpPr>
          <p:cNvPr id="985" name="Google Shape;985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noProof="1"/>
              <a:t>Change icon colour</a:t>
            </a:r>
          </a:p>
        </p:txBody>
      </p:sp>
      <p:sp>
        <p:nvSpPr>
          <p:cNvPr id="986" name="Google Shape;986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US" noProof="1"/>
              <a:t>Notes</a:t>
            </a:r>
          </a:p>
        </p:txBody>
      </p:sp>
      <p:sp>
        <p:nvSpPr>
          <p:cNvPr id="987" name="Google Shape;987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US" noProof="1"/>
              <a:t>Select icon</a:t>
            </a:r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US" noProof="1"/>
              <a:t>In the tab «Graphics Format» under «Graphics Styles», use </a:t>
            </a:r>
            <a:r>
              <a:rPr lang="en-US" b="1" noProof="1"/>
              <a:t>«Graphics Fill»</a:t>
            </a:r>
            <a:r>
              <a:rPr lang="en-US" noProof="1"/>
              <a:t> to change the colour</a:t>
            </a:r>
          </a:p>
        </p:txBody>
      </p:sp>
      <p:sp>
        <p:nvSpPr>
          <p:cNvPr id="988" name="Google Shape;988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noProof="1"/>
              <a:t>For some icons, the colour </a:t>
            </a:r>
            <a:br>
              <a:rPr lang="en-US" noProof="1"/>
            </a:br>
            <a:r>
              <a:rPr lang="en-US" noProof="1"/>
              <a:t>can be changed by using </a:t>
            </a:r>
            <a:br>
              <a:rPr lang="en-US" noProof="1"/>
            </a:br>
            <a:r>
              <a:rPr lang="en-US" b="1" noProof="1"/>
              <a:t>«Graphics Outline»</a:t>
            </a:r>
            <a:r>
              <a:rPr lang="en-US" noProof="1"/>
              <a:t> instead </a:t>
            </a:r>
            <a:br>
              <a:rPr lang="en-US" noProof="1"/>
            </a:br>
            <a:r>
              <a:rPr lang="en-US" noProof="1"/>
              <a:t>of «Graphics Fill».</a:t>
            </a:r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US" noProof="1"/>
              <a:t>The colour cannot be changed </a:t>
            </a:r>
            <a:br>
              <a:rPr lang="en-US" noProof="1"/>
            </a:br>
            <a:r>
              <a:rPr lang="en-US" noProof="1"/>
              <a:t>if an icon is inserted as a picture. </a:t>
            </a:r>
            <a:br>
              <a:rPr lang="en-US" noProof="1"/>
            </a:br>
            <a:r>
              <a:rPr lang="en-US" noProof="1"/>
              <a:t>In this case, after selecting the </a:t>
            </a:r>
            <a:br>
              <a:rPr lang="en-US" noProof="1"/>
            </a:br>
            <a:r>
              <a:rPr lang="en-US" noProof="1"/>
              <a:t>icon, the tab </a:t>
            </a:r>
            <a:r>
              <a:rPr lang="en-US" b="1" noProof="1"/>
              <a:t>«Picture Format»</a:t>
            </a:r>
            <a:r>
              <a:rPr lang="en-US" noProof="1"/>
              <a:t> </a:t>
            </a:r>
            <a:br>
              <a:rPr lang="en-US" noProof="1"/>
            </a:br>
            <a:r>
              <a:rPr lang="en-US" noProof="1"/>
              <a:t>appears instead of «Graphics Format».</a:t>
            </a:r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US" noProof="1"/>
              <a:t>Best vector file format for icons: *.svg</a:t>
            </a:r>
          </a:p>
        </p:txBody>
      </p:sp>
      <p:grpSp>
        <p:nvGrpSpPr>
          <p:cNvPr id="989" name="Google Shape;989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990" name="Google Shape;990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800" b="0" i="0" u="none" strike="noStrike" cap="none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1" name="Google Shape;991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2" name="Google Shape;992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4" name="Google Shape;994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5" name="Google Shape;995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6" name="Google Shape;996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997" name="Google Shape;997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800" b="0" i="0" u="none" strike="noStrike" cap="none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8" name="Google Shape;998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9" name="Google Shape;999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0" name="Google Shape;1000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01" name="Google Shape;1001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800" b="0" i="0" u="none" strike="noStrike" cap="none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lang="en-US" sz="1500" b="0" i="0" u="none" strike="noStrike" cap="none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09" name="Google Shape;1009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10" name="Google Shape;1010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11" name="Google Shape;1011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800" b="0" i="0" u="none" strike="noStrike" cap="none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2" name="Google Shape;1012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lang="en-US" sz="1500" b="0" i="0" u="none" strike="noStrike" cap="none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3" name="Google Shape;1013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14" name="Google Shape;1014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noProof="1"/>
              <a:t>Insert image into placeholder</a:t>
            </a:r>
          </a:p>
        </p:txBody>
      </p:sp>
      <p:sp>
        <p:nvSpPr>
          <p:cNvPr id="1015" name="Google Shape;1015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US" sz="14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 lang="en-US" noProof="1"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 lang="en-US" noProof="1"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US" sz="1400" b="0" i="1" u="sng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lang="en-US" sz="1400" b="0" i="1" u="none" strike="noStrike" cap="none" noProof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</a:p>
        </p:txBody>
      </p:sp>
      <p:sp>
        <p:nvSpPr>
          <p:cNvPr id="1016" name="Google Shape;1016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US" sz="14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 lang="en-US" noProof="1"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 lang="en-US" noProof="1"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 lang="en-US" noProof="1"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 lang="en-US" noProof="1"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 lang="en-US" noProof="1"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 lang="en-US" noProof="1"/>
          </a:p>
        </p:txBody>
      </p:sp>
      <p:cxnSp>
        <p:nvCxnSpPr>
          <p:cNvPr id="1017" name="Google Shape;1017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18" name="Google Shape;1018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467" b="0" i="0" u="none" strike="noStrike" cap="none" noProof="1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9" name="Google Shape;1019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20" name="Google Shape;102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2" name="Google Shape;1022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23" name="Google Shape;1023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5" name="Google Shape;1025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26" name="Google Shape;1026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8" name="Google Shape;1028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29" name="Google Shape;1029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1" name="Google Shape;1031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467" b="0" i="0" u="none" strike="noStrike" cap="none" noProof="1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467" b="0" i="0" u="none" strike="noStrike" cap="none" noProof="1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467" b="0" i="0" u="none" strike="noStrike" cap="none" noProof="1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467" b="0" i="0" u="none" strike="noStrike" cap="none" noProof="1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467" b="0" i="0" u="none" strike="noStrike" cap="none" noProof="1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467" b="0" i="0" u="none" strike="noStrike" cap="none" noProof="1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467" b="0" i="0" u="none" strike="noStrike" cap="none" noProof="1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467" b="0" i="0" u="none" strike="noStrike" cap="none" noProof="1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467" b="0" i="0" u="none" strike="noStrike" cap="none" noProof="1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467" b="0" i="0" u="none" strike="noStrike" cap="none" noProof="1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1" name="Google Shape;1041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42" name="Google Shape;1042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3" name="Google Shape;1043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4" name="Google Shape;104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45" name="Google Shape;1045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6" name="Google Shape;1046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7" name="Google Shape;104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48" name="Google Shape;1048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49" name="Google Shape;1049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800" b="0" i="0" u="none" strike="noStrike" cap="none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50" name="Google Shape;1050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1" name="Google Shape;1051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52" name="Google Shape;1052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b="0" i="0" u="none" strike="noStrike" cap="none" noProof="1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54" name="Google Shape;1054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55" name="Google Shape;1055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56" name="Google Shape;1056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57" name="Google Shape;1057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58" name="Google Shape;1058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59" name="Google Shape;1059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0" name="Google Shape;1060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61" name="Google Shape;1061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62" name="Google Shape;1062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63" name="Google Shape;1063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4" name="Google Shape;1064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5" name="Google Shape;1065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6" name="Google Shape;1066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7" name="Google Shape;1067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8" name="Google Shape;1068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Google Shape;1074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75" name="Google Shape;107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76" name="Google Shape;1076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noProof="1"/>
              <a:t>Insert image into mock-up screen (mobile/laptop)</a:t>
            </a:r>
          </a:p>
        </p:txBody>
      </p:sp>
      <p:cxnSp>
        <p:nvCxnSpPr>
          <p:cNvPr id="1077" name="Google Shape;1077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9" name="Google Shape;1079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80" name="Google Shape;1080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lang="en-US" sz="1400" b="0" i="0" u="none" strike="noStrike" cap="none" noProof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</a:p>
        </p:txBody>
      </p:sp>
      <p:sp>
        <p:nvSpPr>
          <p:cNvPr id="1081" name="Google Shape;1081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lang="en-US" sz="1400" b="0" i="0" u="none" strike="noStrike" cap="none" noProof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 lang="en-US" noProof="1"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 lang="en-US" noProof="1"/>
          </a:p>
        </p:txBody>
      </p:sp>
      <p:sp>
        <p:nvSpPr>
          <p:cNvPr id="1082" name="Google Shape;1082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 lang="en-US" noProof="1"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 lang="en-US" noProof="1"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 lang="en-US" noProof="1"/>
          </a:p>
        </p:txBody>
      </p:sp>
      <p:sp>
        <p:nvSpPr>
          <p:cNvPr id="1083" name="Google Shape;1083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 lang="en-US" noProof="1"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</a:p>
        </p:txBody>
      </p:sp>
      <p:sp>
        <p:nvSpPr>
          <p:cNvPr id="1084" name="Google Shape;1084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US" sz="800" b="0" i="0" u="none" strike="noStrike" cap="none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 lang="en-US" noProof="1"/>
          </a:p>
        </p:txBody>
      </p:sp>
      <p:sp>
        <p:nvSpPr>
          <p:cNvPr id="1085" name="Google Shape;1085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400" b="0" i="0" u="none" strike="noStrike" cap="none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 lang="en-US" noProof="1"/>
          </a:p>
        </p:txBody>
      </p:sp>
      <p:pic>
        <p:nvPicPr>
          <p:cNvPr id="1086" name="Google Shape;1086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7" name="Google Shape;1087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88" name="Google Shape;1088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089" name="Google Shape;1089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090" name="Google Shape;1090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091" name="Google Shape;1091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092" name="Google Shape;1092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lang="en-US" sz="1400" noProof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93" name="Google Shape;1093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094" name="Google Shape;1094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095" name="Google Shape;1095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96" name="Google Shape;1096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097" name="Google Shape;1097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098" name="Google Shape;1098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099" name="Google Shape;1099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00" name="Google Shape;1100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800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1" name="Google Shape;1101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2" name="Google Shape;1102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3" name="Google Shape;1103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lang="en-US" sz="1400" b="0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04" name="Google Shape;1104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05" name="Google Shape;1105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800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6" name="Google Shape;1106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7" name="Google Shape;1107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8" name="Google Shape;1108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lang="en-US" sz="1400" b="0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lang="en-US" sz="1400" b="0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lang="en-US" sz="1400" b="0" i="0" u="none" strike="noStrike" cap="none" noProof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noProof="1"/>
              <a:t>bbv template EN</a:t>
            </a:r>
          </a:p>
        </p:txBody>
      </p:sp>
      <p:sp>
        <p:nvSpPr>
          <p:cNvPr id="1118" name="Google Shape;1118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US" sz="4800" b="1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 lang="en-US" noProof="1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noProof="1"/>
              <a:t>Working area, guides &amp; ruler</a:t>
            </a:r>
          </a:p>
        </p:txBody>
      </p:sp>
      <p:sp>
        <p:nvSpPr>
          <p:cNvPr id="1125" name="Google Shape;1125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US" sz="2133" b="1" i="0" u="none" strike="noStrike" cap="none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 lang="en-US" noProof="1"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US" sz="1600" b="0" i="0" u="none" strike="noStrike" cap="none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 lang="en-US" noProof="1"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US" sz="1600" b="0" i="0" u="none" strike="noStrike" cap="none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</a:p>
        </p:txBody>
      </p:sp>
      <p:grpSp>
        <p:nvGrpSpPr>
          <p:cNvPr id="1126" name="Google Shape;1126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27" name="Google Shape;1127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28" name="Google Shape;1128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29" name="Google Shape;112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0" name="Google Shape;113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1" name="Google Shape;113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2" name="Google Shape;113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3" name="Google Shape;113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4" name="Google Shape;1134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35" name="Google Shape;1135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36" name="Google Shape;1136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7" name="Google Shape;1137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38" name="Google Shape;1138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9" name="Google Shape;1139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6" name="Google Shape;1146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7" name="Google Shape;1147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48" name="Google Shape;1148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800" noProof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49" name="Google Shape;1149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50" name="Google Shape;1150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lang="en-US" sz="1200" b="0" i="0" u="none" strike="noStrike" cap="none" noProof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lang="en-US" sz="1200" b="0" i="0" u="none" strike="noStrike" cap="none" noProof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lang="en-US" sz="1200" b="0" i="0" u="none" strike="noStrike" cap="none" noProof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noProof="1"/>
              <a:t>bbv colour theme</a:t>
            </a:r>
          </a:p>
        </p:txBody>
      </p:sp>
      <p:cxnSp>
        <p:nvCxnSpPr>
          <p:cNvPr id="1159" name="Google Shape;1159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60" name="Google Shape;1160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 lang="en-US" noProof="1"/>
          </a:p>
        </p:txBody>
      </p:sp>
      <p:sp>
        <p:nvSpPr>
          <p:cNvPr id="1161" name="Google Shape;1161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2" name="Google Shape;1162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3" name="Google Shape;1163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71" name="Google Shape;1171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72" name="Google Shape;117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73" name="Google Shape;117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74" name="Google Shape;1174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 noProof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5" name="Google Shape;1175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6" name="Google Shape;1176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7" name="Google Shape;1177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8" name="Google Shape;1178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79" name="Google Shape;1179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80" name="Google Shape;1180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noProof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81" name="Google Shape;1181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82" name="Google Shape;1182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83" name="Google Shape;1183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 sz="12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 lang="en-US" noProof="1"/>
          </a:p>
        </p:txBody>
      </p:sp>
      <p:sp>
        <p:nvSpPr>
          <p:cNvPr id="1184" name="Google Shape;1184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sz="1200" noProof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 lang="en-US" noProof="1"/>
          </a:p>
        </p:txBody>
      </p:sp>
      <p:sp>
        <p:nvSpPr>
          <p:cNvPr id="1185" name="Google Shape;1185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US" sz="1200" noProof="1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 lang="en-US" noProof="1"/>
          </a:p>
        </p:txBody>
      </p:sp>
      <p:grpSp>
        <p:nvGrpSpPr>
          <p:cNvPr id="1186" name="Google Shape;1186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87" name="Google Shape;118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8" name="Google Shape;118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89" name="Google Shape;1189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190" name="Google Shape;1190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1" name="Google Shape;1191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92" name="Google Shape;1192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193" name="Google Shape;1193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4" name="Google Shape;1194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5" name="Google Shape;1195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 sz="12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 lang="en-US" noProof="1"/>
          </a:p>
        </p:txBody>
      </p:sp>
      <p:grpSp>
        <p:nvGrpSpPr>
          <p:cNvPr id="1196" name="Google Shape;1196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197" name="Google Shape;119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8" name="Google Shape;119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9" name="Google Shape;1199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5" name="Google Shape;1215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16" name="Google Shape;1216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17" name="Google Shape;1217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sz="1467" noProof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18" name="Google Shape;1218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9" name="Google Shape;1219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20" name="Google Shape;1220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21" name="Google Shape;1221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2" name="Google Shape;1222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23" name="Google Shape;1223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 lang="en-US" noProof="1"/>
          </a:p>
        </p:txBody>
      </p:sp>
      <p:sp>
        <p:nvSpPr>
          <p:cNvPr id="1224" name="Google Shape;1224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 lang="en-US" noProof="1"/>
          </a:p>
        </p:txBody>
      </p:sp>
      <p:grpSp>
        <p:nvGrpSpPr>
          <p:cNvPr id="1225" name="Google Shape;1225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26" name="Google Shape;1226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7" name="Google Shape;1227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28" name="Google Shape;1228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29" name="Google Shape;1229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1" name="Google Shape;1231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 lang="en-US" noProof="1"/>
          </a:p>
        </p:txBody>
      </p:sp>
      <p:sp>
        <p:nvSpPr>
          <p:cNvPr id="1232" name="Google Shape;1232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5" name="Google Shape;1235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067" noProof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9" name="Google Shape;1239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noProof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 lang="en-US" noProof="1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15044</TotalTime>
  <Words>756</Words>
  <Application>Microsoft Office PowerPoint</Application>
  <PresentationFormat>Widescreen</PresentationFormat>
  <Paragraphs>171</Paragraphs>
  <Slides>38</Slides>
  <Notes>36</Notes>
  <HiddenSlides>9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Calibri</vt:lpstr>
      <vt:lpstr>Segoe UI Semibold</vt:lpstr>
      <vt:lpstr>bbv template EN</vt:lpstr>
      <vt:lpstr>think-cell Slide</vt:lpstr>
      <vt:lpstr>PowerPoint Presentation</vt:lpstr>
      <vt:lpstr>YPP 4th</vt:lpstr>
      <vt:lpstr>Presentation on Use Case InFlow</vt:lpstr>
      <vt:lpstr>Agenda</vt:lpstr>
      <vt:lpstr>INTRODUCTION</vt:lpstr>
      <vt:lpstr>Introduction</vt:lpstr>
      <vt:lpstr>Key Functionalities</vt:lpstr>
      <vt:lpstr>Key Functionalities </vt:lpstr>
      <vt:lpstr>Purchase module</vt:lpstr>
      <vt:lpstr>PURCHASE ORDER</vt:lpstr>
      <vt:lpstr>MANAGE PURCHASE ORDER</vt:lpstr>
      <vt:lpstr>PURCHASE ORDER</vt:lpstr>
      <vt:lpstr>PURCHASE ORDER</vt:lpstr>
      <vt:lpstr>PURCHASE QUOTE</vt:lpstr>
      <vt:lpstr>MANAGE VENDOR</vt:lpstr>
      <vt:lpstr>MANAGE VENDOR</vt:lpstr>
      <vt:lpstr>MANAGE VENDOR</vt:lpstr>
      <vt:lpstr>INFOR VENDOR</vt:lpstr>
      <vt:lpstr>INFOR VENDOR</vt:lpstr>
      <vt:lpstr>ORDER HISTORY</vt:lpstr>
      <vt:lpstr>PAYMENT HISTORY</vt:lpstr>
      <vt:lpstr>Manufactoring module</vt:lpstr>
      <vt:lpstr>Create Manufacturing Order</vt:lpstr>
      <vt:lpstr>Create Manufacturing Order</vt:lpstr>
      <vt:lpstr>Manage Manufacturing Operations</vt:lpstr>
      <vt:lpstr>Manage Manufacturing Order</vt:lpstr>
      <vt:lpstr>Manage Manufacturing Operations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Dao Trong Vo</dc:creator>
  <cp:lastModifiedBy>VÕ TRẦN QUANG THÔNG</cp:lastModifiedBy>
  <cp:revision>211</cp:revision>
  <dcterms:created xsi:type="dcterms:W3CDTF">2025-07-10T03:51:23Z</dcterms:created>
  <dcterms:modified xsi:type="dcterms:W3CDTF">2025-09-04T02:11:27Z</dcterms:modified>
</cp:coreProperties>
</file>